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2"/>
    <p:sldId id="268" r:id="rId3"/>
    <p:sldId id="256" r:id="rId4"/>
    <p:sldId id="257" r:id="rId5"/>
    <p:sldId id="259" r:id="rId6"/>
    <p:sldId id="260" r:id="rId7"/>
    <p:sldId id="265" r:id="rId8"/>
    <p:sldId id="269" r:id="rId9"/>
    <p:sldId id="270" r:id="rId10"/>
    <p:sldId id="271" r:id="rId11"/>
    <p:sldId id="272" r:id="rId12"/>
    <p:sldId id="27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35D"/>
    <a:srgbClr val="142544"/>
    <a:srgbClr val="1A2E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0"/>
    <p:restoredTop sz="94684"/>
  </p:normalViewPr>
  <p:slideViewPr>
    <p:cSldViewPr snapToGrid="0">
      <p:cViewPr varScale="1">
        <p:scale>
          <a:sx n="141" d="100"/>
          <a:sy n="141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CA" sz="1200" b="0" i="0" u="none" strike="noStrike">
                <a:solidFill>
                  <a:srgbClr val="000000"/>
                </a:solidFill>
                <a:latin typeface="Arial"/>
              </a:rPr>
              <a:t>ALC Days by Zone (%) — NS 2023-24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ALC Days (% of hospital days)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23-1444-8CE2-DA49524C3C29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23-1444-8CE2-DA49524C3C29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23-1444-8CE2-DA49524C3C29}"/>
              </c:ext>
            </c:extLst>
          </c:dPt>
          <c:dPt>
            <c:idx val="3"/>
            <c:invertIfNegative val="0"/>
            <c:bubble3D val="0"/>
            <c:spPr>
              <a:solidFill>
                <a:srgbClr val="7DD3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23-1444-8CE2-DA49524C3C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Zone 1
Central</c:v>
                </c:pt>
                <c:pt idx="1">
                  <c:v>Zone 2
Eastern</c:v>
                </c:pt>
                <c:pt idx="2">
                  <c:v>Zone 3
Northern</c:v>
                </c:pt>
                <c:pt idx="3">
                  <c:v>Zone 4
Western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23.1</c:v>
                </c:pt>
                <c:pt idx="1">
                  <c:v>21.8</c:v>
                </c:pt>
                <c:pt idx="2">
                  <c:v>19.5</c:v>
                </c:pt>
                <c:pt idx="3">
                  <c:v>20.2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23-1444-8CE2-DA49524C3C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34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39A"/>
                </a:solidFill>
              </a:rPr>
              <a:t>DATAJAM 2026  ·  NS HEALTHCARE  ·  TEAM :ALC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 Mismatch Dashboard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22860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28090"/>
                </a:solidFill>
              </a:rPr>
              <a:t>Alternate Level of Care  ·  Nova Scotia Healthcare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8686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2C39A"/>
                </a:solidFill>
              </a:rPr>
              <a:t>OUR TEAM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28600" y="242316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0F2F52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423160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2560320"/>
            <a:ext cx="777240" cy="777240"/>
          </a:xfrm>
          <a:prstGeom prst="ellipse">
            <a:avLst/>
          </a:prstGeom>
          <a:solidFill>
            <a:srgbClr val="0D335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C39A"/>
                </a:solidFill>
              </a:rPr>
              <a:t>MR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228600" y="340156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F7F9"/>
                </a:solidFill>
              </a:rPr>
              <a:t>Mandipa Raut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28600" y="373075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2C39A"/>
                </a:solidFill>
              </a:rPr>
              <a:t>Data Analysis  and Developer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28600" y="40050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4748B"/>
                </a:solidFill>
              </a:rPr>
              <a:t>Mandipa.Raut@smu.ca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0F2F52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2423160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0" y="2560320"/>
            <a:ext cx="777240" cy="777240"/>
          </a:xfrm>
          <a:prstGeom prst="ellipse">
            <a:avLst/>
          </a:prstGeom>
          <a:solidFill>
            <a:srgbClr val="0D335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257860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C39A"/>
                </a:solidFill>
              </a:rPr>
              <a:t>JM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3200400" y="340156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F7F9"/>
                </a:solidFill>
              </a:rPr>
              <a:t>Jiaqi Mao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200400" y="373075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2C39A"/>
                </a:solidFill>
              </a:rPr>
              <a:t>Data Analysis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3200400" y="40050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4748B"/>
                </a:solidFill>
              </a:rPr>
              <a:t>Jiaqi.Mao@smu.ca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6172200" y="242316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0F2F52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2423160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2560320"/>
            <a:ext cx="777240" cy="777240"/>
          </a:xfrm>
          <a:prstGeom prst="ellipse">
            <a:avLst/>
          </a:prstGeom>
          <a:solidFill>
            <a:srgbClr val="0D335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257860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C39A"/>
                </a:solidFill>
              </a:rPr>
              <a:t>YE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6172200" y="340156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F7F9"/>
                </a:solidFill>
              </a:rPr>
              <a:t> Jia‘en Yu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172200" y="373075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2C39A"/>
                </a:solidFill>
              </a:rPr>
              <a:t>Data Analysis &amp; Research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172200" y="40050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4748B"/>
                </a:solidFill>
              </a:rPr>
              <a:t>yujiaen1029@gmail.com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Sobey School of Business  ·  Saint Mary's University  ·  Halifax, Nova Scotia  ·  March 7, 2026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08031-17D4-714D-A259-617FF5922E5F}"/>
              </a:ext>
            </a:extLst>
          </p:cNvPr>
          <p:cNvSpPr txBox="1"/>
          <p:nvPr/>
        </p:nvSpPr>
        <p:spPr>
          <a:xfrm>
            <a:off x="185352" y="210065"/>
            <a:ext cx="864756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Pain 1: Transparency</a:t>
            </a:r>
          </a:p>
          <a:p>
            <a:r>
              <a:rPr lang="en-US" dirty="0"/>
              <a:t> The Auditor General ask for “Health Zone Level” data</a:t>
            </a:r>
          </a:p>
          <a:p>
            <a:r>
              <a:rPr lang="en-US" dirty="0"/>
              <a:t>Aggregate data cover’s the real situation among different zone</a:t>
            </a:r>
          </a:p>
          <a:p>
            <a:endParaRPr lang="en-US" dirty="0"/>
          </a:p>
          <a:p>
            <a:r>
              <a:rPr lang="en-US" dirty="0"/>
              <a:t>Why can’t provided: Hard to calculate cause Data Blind</a:t>
            </a:r>
          </a:p>
          <a:p>
            <a:endParaRPr lang="en-US" dirty="0"/>
          </a:p>
          <a:p>
            <a:r>
              <a:rPr lang="en-US" dirty="0"/>
              <a:t>Solution: bypass the government data, provide transparency to public</a:t>
            </a:r>
          </a:p>
          <a:p>
            <a:endParaRPr lang="en-US" b="1" dirty="0"/>
          </a:p>
          <a:p>
            <a:r>
              <a:rPr lang="en-US" b="1" dirty="0"/>
              <a:t>Pain 2: Access and Flow</a:t>
            </a:r>
          </a:p>
          <a:p>
            <a:r>
              <a:rPr lang="en-US" dirty="0"/>
              <a:t>Karen Oldfield: Need to use data for target resources (based on Health zone)</a:t>
            </a:r>
          </a:p>
          <a:p>
            <a:endParaRPr lang="en-US" dirty="0"/>
          </a:p>
          <a:p>
            <a:r>
              <a:rPr lang="en-US" dirty="0"/>
              <a:t>Why can’t do it: 700 ALC patient blocking bed on 3000 bed, on </a:t>
            </a:r>
          </a:p>
          <a:p>
            <a:r>
              <a:rPr lang="en-US" dirty="0"/>
              <a:t>Dr. Aaron Smith’s access flow: “coming in, moving through, and getting out”</a:t>
            </a:r>
          </a:p>
          <a:p>
            <a:endParaRPr lang="en-US" dirty="0"/>
          </a:p>
          <a:p>
            <a:r>
              <a:rPr lang="en-US" dirty="0"/>
              <a:t>Solution: Find out blind spot for Karen Oldfield to target, from now to mid 2027)</a:t>
            </a:r>
            <a:r>
              <a:rPr lang="en-US" dirty="0" err="1"/>
              <a:t>Alayacare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Pain 3: ROI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A1EA8-1ADE-8C3E-42BE-8F33EFC40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2" y="1104191"/>
            <a:ext cx="7772400" cy="28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0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2C39A"/>
                </a:solidFill>
              </a:rPr>
              <a:t>DATAJAM 2026 · HEALTHCARE TRACK 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Beds Are Full.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228600" y="15087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Nobody's Sick.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228600" y="25146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>
                <a:solidFill>
                  <a:srgbClr val="C8D8E8"/>
                </a:solidFill>
              </a:rPr>
              <a:t>545 Nova Scotia hospital beds are occupied every single day</a:t>
            </a:r>
            <a:endParaRPr lang="en-US" sz="1450"/>
          </a:p>
          <a:p>
            <a:pPr marL="0" indent="0">
              <a:lnSpc>
                <a:spcPct val="140000"/>
              </a:lnSpc>
              <a:buNone/>
            </a:pPr>
            <a:r>
              <a:rPr lang="en-US" sz="1450">
                <a:solidFill>
                  <a:srgbClr val="C8D8E8"/>
                </a:solidFill>
              </a:rPr>
              <a:t>by patients who are medically ready to leave — but have nowhere to go.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228600" y="3639312"/>
            <a:ext cx="5120640" cy="1097280"/>
          </a:xfrm>
          <a:prstGeom prst="rect">
            <a:avLst/>
          </a:prstGeom>
          <a:solidFill>
            <a:srgbClr val="0D3356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>
                <a:solidFill>
                  <a:srgbClr val="C8D8E8"/>
                </a:solidFill>
              </a:rPr>
              <a:t>🏨  Think of it like a hotel where checkout never happens —</a:t>
            </a:r>
            <a:endParaRPr lang="en-US" sz="1250"/>
          </a:p>
          <a:p>
            <a:pPr marL="0" indent="0">
              <a:lnSpc>
                <a:spcPct val="135000"/>
              </a:lnSpc>
              <a:buNone/>
            </a:pPr>
            <a:r>
              <a:rPr lang="en-US" sz="1250" i="1">
                <a:solidFill>
                  <a:srgbClr val="C8D8E8"/>
                </a:solidFill>
              </a:rPr>
              <a:t>new guests pile up at the door while old guests sit in their rooms.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760720" y="457200"/>
            <a:ext cx="3154680" cy="4297680"/>
          </a:xfrm>
          <a:prstGeom prst="rect">
            <a:avLst/>
          </a:prstGeom>
          <a:solidFill>
            <a:srgbClr val="071A30"/>
          </a:solidFill>
          <a:ln w="12700">
            <a:solidFill>
              <a:srgbClr val="0D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7315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</a:t>
            </a:r>
            <a:endParaRPr lang="en-US" sz="8800"/>
          </a:p>
        </p:txBody>
      </p:sp>
      <p:sp>
        <p:nvSpPr>
          <p:cNvPr id="11" name="Text 9"/>
          <p:cNvSpPr/>
          <p:nvPr/>
        </p:nvSpPr>
        <p:spPr>
          <a:xfrm>
            <a:off x="5760720" y="2011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4F7F9"/>
                </a:solidFill>
              </a:rPr>
              <a:t>BEDS BLOCKED DAILY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217920" y="2487168"/>
            <a:ext cx="2240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b="1">
                <a:solidFill>
                  <a:srgbClr val="F4A261"/>
                </a:solidFill>
              </a:rPr>
              <a:t>192,000</a:t>
            </a:r>
            <a:endParaRPr lang="en-US" sz="220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200" b="1">
                <a:solidFill>
                  <a:srgbClr val="F4A261"/>
                </a:solidFill>
              </a:rPr>
              <a:t>ALC DAYS IN 2023–24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6217920" y="3456432"/>
            <a:ext cx="22402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358444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>
                <a:solidFill>
                  <a:srgbClr val="F4F7F9"/>
                </a:solidFill>
              </a:rPr>
              <a:t>21.3%</a:t>
            </a:r>
            <a:endParaRPr lang="en-US" sz="16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>
                <a:solidFill>
                  <a:srgbClr val="F4F7F9"/>
                </a:solidFill>
              </a:rPr>
              <a:t>OF ALL HOSPITAL DAYS</a:t>
            </a:r>
            <a:endParaRPr lang="en-US" sz="16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>
                <a:solidFill>
                  <a:srgbClr val="F4F7F9"/>
                </a:solidFill>
              </a:rPr>
              <a:t>(NS vs 16.9% Canada)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 / 7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2C39A"/>
                </a:solidFill>
              </a:rPr>
              <a:t>THE DATA STORY</a:t>
            </a:r>
            <a:endParaRPr lang="en-US" sz="110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12001570"/>
              </p:ext>
            </p:extLst>
          </p:nvPr>
        </p:nvGraphicFramePr>
        <p:xfrm>
          <a:off x="274320" y="713232"/>
          <a:ext cx="4462272" cy="1801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804672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7492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342"/>
                </a:solidFill>
              </a:rPr>
              <a:t>The Cost Gap Is Shocking</a:t>
            </a:r>
            <a:endParaRPr lang="en-US" sz="1500"/>
          </a:p>
        </p:txBody>
      </p:sp>
      <p:sp>
        <p:nvSpPr>
          <p:cNvPr id="7" name="Shape 4"/>
          <p:cNvSpPr/>
          <p:nvPr/>
        </p:nvSpPr>
        <p:spPr>
          <a:xfrm>
            <a:off x="5074920" y="1463040"/>
            <a:ext cx="356616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1463040"/>
            <a:ext cx="64008" cy="914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30368" y="1536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84855"/>
                </a:solidFill>
              </a:rPr>
              <a:t>National average cost </a:t>
            </a:r>
            <a:r>
              <a:rPr lang="en-US" sz="900" b="1" kern="0" spc="200" err="1">
                <a:solidFill>
                  <a:srgbClr val="E84855"/>
                </a:solidFill>
              </a:rPr>
              <a:t>fo</a:t>
            </a:r>
            <a:r>
              <a:rPr lang="en-US" sz="900" b="1" kern="0" spc="200">
                <a:solidFill>
                  <a:srgbClr val="E84855"/>
                </a:solidFill>
              </a:rPr>
              <a:t> Acute bed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5230368" y="1764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4855"/>
                </a:solidFill>
              </a:rPr>
              <a:t>$1,200 / day</a:t>
            </a:r>
            <a:endParaRPr lang="en-US" sz="2600"/>
          </a:p>
        </p:txBody>
      </p:sp>
      <p:sp>
        <p:nvSpPr>
          <p:cNvPr id="11" name="Shape 8"/>
          <p:cNvSpPr/>
          <p:nvPr/>
        </p:nvSpPr>
        <p:spPr>
          <a:xfrm>
            <a:off x="5074920" y="2523309"/>
            <a:ext cx="356616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74920" y="251460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30368" y="2587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59669"/>
                </a:solidFill>
              </a:rPr>
              <a:t>NS average for Acute bed cost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5230368" y="28163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59669"/>
                </a:solidFill>
              </a:rPr>
              <a:t>$975 / day </a:t>
            </a:r>
            <a:endParaRPr lang="en-US" sz="2600"/>
          </a:p>
        </p:txBody>
      </p:sp>
      <p:sp>
        <p:nvSpPr>
          <p:cNvPr id="15" name="Shape 12"/>
          <p:cNvSpPr/>
          <p:nvPr/>
        </p:nvSpPr>
        <p:spPr>
          <a:xfrm>
            <a:off x="5074920" y="3547872"/>
            <a:ext cx="356616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12080" y="36210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>
                <a:solidFill>
                  <a:srgbClr val="F4F7F9"/>
                </a:solidFill>
              </a:rPr>
              <a:t>ALC care operation(West Bedford) $600 /day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F7F9"/>
                </a:solidFill>
              </a:rPr>
              <a:t>💡  NS spends $873.8M on long-term care annually — yet ALC days keep rising. 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850392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4F7F9"/>
                </a:solidFill>
              </a:rPr>
              <a:t>2 / 7</a:t>
            </a:r>
            <a:endParaRPr lang="en-US" sz="9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FF37D2-0882-D392-C14B-AEABB966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" y="2649932"/>
            <a:ext cx="4462272" cy="2086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2C39A"/>
                </a:solidFill>
              </a:rPr>
              <a:t>WHY THIS PROBLEM AFFECTS EVERYONE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4023360"/>
          </a:xfrm>
          <a:prstGeom prst="rect">
            <a:avLst/>
          </a:prstGeom>
          <a:solidFill>
            <a:srgbClr val="FEF2F2"/>
          </a:solidFill>
          <a:ln w="1905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83464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4F7F9"/>
                </a:solidFill>
              </a:rPr>
              <a:t>👤  PATIENTS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292608" y="13258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>
                <a:solidFill>
                  <a:srgbClr val="0A2342"/>
                </a:solidFill>
              </a:rPr>
              <a:t>Getting Worse, Not Better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ALC patients lose muscle, develop infections, and decline mentally in hospital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20040" y="2816352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They need a home-like environment — hospital actively harms them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" y="3712464"/>
            <a:ext cx="201168" cy="2011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6850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SOCIAL VULNERABILITY (lack of home support) — not medical need — predicts ALC status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172968" y="804672"/>
            <a:ext cx="2834640" cy="4023360"/>
          </a:xfrm>
          <a:prstGeom prst="rect">
            <a:avLst/>
          </a:prstGeom>
          <a:solidFill>
            <a:srgbClr val="F0FDF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804672"/>
            <a:ext cx="2834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82696" y="822960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4F7F9"/>
                </a:solidFill>
              </a:rPr>
              <a:t>🏥  HOSPITALS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282696" y="13258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>
                <a:solidFill>
                  <a:srgbClr val="0A2342"/>
                </a:solidFill>
              </a:rPr>
              <a:t>ER Gridlock Starts Here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3310128" y="19202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Halifax Infirmary at 102% capacity, Dartmouth General at 121%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310128" y="28163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84448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54,285 Nova Scotians left ER without treatment in 2024 (9.8% of visits)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3310128" y="371246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84448" y="36850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NS Health launched ALC Designation Project — government already knows this is a crisis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163056" y="804672"/>
            <a:ext cx="2834640" cy="4023360"/>
          </a:xfrm>
          <a:prstGeom prst="rect">
            <a:avLst/>
          </a:prstGeom>
          <a:solidFill>
            <a:srgbClr val="FFFBEB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804672"/>
            <a:ext cx="28346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822960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4F7F9"/>
                </a:solidFill>
              </a:rPr>
              <a:t>🏛️  GOVERNMENT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272784" y="13258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>
                <a:solidFill>
                  <a:srgbClr val="0A2342"/>
                </a:solidFill>
              </a:rPr>
              <a:t>Spending Without Direction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6300216" y="192024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74536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$873.8M spent on long-term care — yet ALC days are rising, not falling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6300216" y="2816352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74536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Auditor General (Jan 2026): government not tracking the right performance data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6300216" y="3712464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74536" y="36850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2D3748"/>
                </a:solidFill>
              </a:rPr>
              <a:t>Money is going to capacity — not to fixing the mismatch between patients and resources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4F7F9"/>
                </a:solidFill>
              </a:rPr>
              <a:t>Patient suffers  →  ER overflows  →  Ambulances stuck  →  Lives at risk  →  $873M misspent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8503920" y="487375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4F7F9"/>
                </a:solidFill>
              </a:rPr>
              <a:t>4 / 7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2C39A"/>
                </a:solidFill>
              </a:rPr>
              <a:t>OUR SOLUTION — THE MISMATCH DASHBOARD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2342"/>
                </a:solidFill>
              </a:rPr>
              <a:t>Don't build more beds. Fix where the resources go.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201168" y="1389888"/>
            <a:ext cx="2816352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43584" y="1261872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43584" y="12618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4F7F9"/>
                </a:solidFill>
              </a:rPr>
              <a:t>1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38328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>
                <a:solidFill>
                  <a:srgbClr val="0A2342"/>
                </a:solidFill>
              </a:rPr>
              <a:t>Map the Mismatch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4871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>
                <a:solidFill>
                  <a:srgbClr val="2D3748"/>
                </a:solidFill>
              </a:rPr>
              <a:t>Merge LTC waitlist + ALC days + home care data by NS zone. Reveal which zones have the worst gap between demand and available care.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172968" y="1389888"/>
            <a:ext cx="2816352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15384" y="1261872"/>
            <a:ext cx="731520" cy="7315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15384" y="12618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4F7F9"/>
                </a:solidFill>
              </a:rPr>
              <a:t>2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3310128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>
                <a:solidFill>
                  <a:srgbClr val="0A2342"/>
                </a:solidFill>
              </a:rPr>
              <a:t>Target Top 3 Zones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337560" y="2578608"/>
            <a:ext cx="24871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>
                <a:solidFill>
                  <a:srgbClr val="2D3748"/>
                </a:solidFill>
              </a:rPr>
              <a:t>Identify the 3 zones where redirecting existing home care resources would free the most hospital beds. No new hiring. No new building.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144768" y="1389888"/>
            <a:ext cx="2816352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87184" y="1261872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87184" y="12618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4F7F9"/>
                </a:solidFill>
              </a:rPr>
              <a:t>3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6281928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>
                <a:solidFill>
                  <a:srgbClr val="0A2342"/>
                </a:solidFill>
              </a:rPr>
              <a:t>Pilot &amp; Measure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309360" y="2578608"/>
            <a:ext cx="248716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>
                <a:solidFill>
                  <a:srgbClr val="2D3748"/>
                </a:solidFill>
              </a:rPr>
              <a:t>3-month pilot in Zone 1 (Central NS). Track beds freed, ER wait-time changes, ambulance offload delays, and cost savings in real time.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201168" y="4114800"/>
            <a:ext cx="8741664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78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</a:rPr>
              <a:t>📊 DATA SOURCES: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2103120" y="417880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NS Open Data: LTC Waitlist · Home Support Waitlist · LTC Facilities  |  CIHI: ALC Days  |  NS Health: Nursing Home Wait Times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4F7F9"/>
                </a:solidFill>
              </a:rPr>
              <a:t>Impact: 100+ beds freed  →  ER wait times drop  →  Ambulances respond faster  →  $5M+ saved in top 3 zones alone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4F7F9"/>
                </a:solidFill>
              </a:rPr>
              <a:t>5 / 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canada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25D3A6D4-B8A2-BA73-BBB4-228C5CFF1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" y="0"/>
            <a:ext cx="469773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386E4E-B224-0398-0994-45B505DB85FC}"/>
              </a:ext>
            </a:extLst>
          </p:cNvPr>
          <p:cNvSpPr txBox="1"/>
          <p:nvPr/>
        </p:nvSpPr>
        <p:spPr>
          <a:xfrm>
            <a:off x="5101771" y="1005522"/>
            <a:ext cx="21515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Monitoring</a:t>
            </a:r>
          </a:p>
          <a:p>
            <a:r>
              <a:rPr lang="en-US" err="1"/>
              <a:t>AlayaCare</a:t>
            </a:r>
            <a:endParaRPr lang="en-US"/>
          </a:p>
          <a:p>
            <a:r>
              <a:rPr lang="en-US"/>
              <a:t>40,000 Nova Scotian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5F5435-76DD-D868-E6BD-419087A9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595959"/>
                </a:solidFill>
                <a:effectLst/>
                <a:latin typeface="Open Sans" panose="020B0606030504020204" pitchFamily="34" charset="0"/>
              </a:rPr>
              <a:t>Nova Scotians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21D85-B456-C6E3-D2FB-FC43D46C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771" y="2571750"/>
            <a:ext cx="4020859" cy="21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0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63F01-175F-8EC5-7918-450A098D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192"/>
            <a:ext cx="9241884" cy="41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865846-6F91-0BFC-A43C-B20A19B0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39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571AD9-2D9E-4D30-5DEB-B7F2DA86F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088741" cy="41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7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A83D51-3698-F56A-C630-6EE9FEF9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998527" cy="515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89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F7720-D326-7161-A3C6-8257C38A3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519" y="0"/>
            <a:ext cx="92790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3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639</TotalTime>
  <Words>708</Words>
  <Application>Microsoft Macintosh PowerPoint</Application>
  <PresentationFormat>On-screen Show (16:9)</PresentationFormat>
  <Paragraphs>101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Mandipa Raut</cp:lastModifiedBy>
  <cp:revision>4</cp:revision>
  <dcterms:created xsi:type="dcterms:W3CDTF">2026-03-06T22:48:31Z</dcterms:created>
  <dcterms:modified xsi:type="dcterms:W3CDTF">2026-03-08T04:17:36Z</dcterms:modified>
</cp:coreProperties>
</file>